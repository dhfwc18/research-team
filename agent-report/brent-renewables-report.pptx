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89120"/>
            <a:ext cx="12188952" cy="54864"/>
          </a:xfrm>
          <a:prstGeom prst="rect">
            <a:avLst/>
          </a:prstGeom>
          <a:solidFill>
            <a:srgbClr val="3BB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118311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Brent Oil Prices &amp;
Renewable Energy Investment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017520"/>
            <a:ext cx="111831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CDDFF"/>
                </a:solidFill>
              </a:rPr>
              <a:t>How changes in Brent crude prices affect the long-run growth of
renewable energy investment: scenario analysis &amp; stress 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634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9AACC"/>
                </a:solidFill>
              </a:rPr>
              <a:t>Research Team Analysis  |  2026-04-06  |  Branch: example-study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77272" y="640080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CC2222"/>
                </a:solidFill>
              </a:rPr>
              <a:t>AI Generated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831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83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FF"/>
                </a:solidFill>
              </a:rPr>
              <a:t>Key findings at a glance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1118311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222233"/>
                </a:solidFill>
              </a:rPr>
              <a:t>  Oil &amp; renewable investment rose together (r = +0.663, 2015-2024): higher Brent prices consistently coincided with accelerating renewable investment.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22233"/>
                </a:solidFill>
              </a:rPr>
              <a:t>  Renewable power investment nearly tripled: from $286 bn (2015) to $807 bn (2024), a CAGR of ~11%/yr. Clean energy now invests at twice the rate of fossil fuels (ratio 2.0x).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22233"/>
                </a:solidFill>
              </a:rPr>
              <a:t>  The CES substitution model (sigma = 1.8, Papageorgiou 2017) replicates the Mukhtarov et al. +0.16% elasticity and confirms gross substitutability of clean/dirty energy.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22233"/>
                </a:solidFill>
              </a:rPr>
              <a:t>  Scenario range by 2030: renewable investment spans $820 bn (LOW_SHOCK, $25/bbl) to $2,350+ bn (HIGH_SHOCK, $130/bbl) — a nearly 3x spread depending on oil price path.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22233"/>
                </a:solidFill>
              </a:rPr>
              <a:t>  Policy is the dominant growth driver post-2021: IRA (US) and REPowerEU injected policy-driven investment largely decoupled from oil price signals.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22233"/>
                </a:solidFill>
              </a:rPr>
              <a:t>  Morris GSA identifies oil price (2030), sigma, and baseline investment as the three most influential parameters — oil price uncertainty is the key risk variable.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22233"/>
                </a:solidFill>
              </a:rPr>
              <a:t>  Model quality: 164/164 integration tests pass. CES library fully packaged (ces_model). All figures reproducible from notebooks.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77272" y="64465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CC2222"/>
                </a:solidFill>
              </a:rPr>
              <a:t>AI Generated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831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Research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83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FF"/>
                </a:solidFill>
              </a:rPr>
              <a:t>59 resources surveyed across 4 topics | 4 agent workstreams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5500116" cy="21031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52257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Topic 1: Brent Price Trends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522579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15 resources | EIA, IEA, World Bank, IMF
Key papers: Hamilton 2008, Kilian 2009
Key data: EIA RBRTE monthly &amp; daily (1987-2026)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5916" y="1417320"/>
            <a:ext cx="5500116" cy="2103120"/>
          </a:xfrm>
          <a:prstGeom prst="rect">
            <a:avLst/>
          </a:prstGeom>
          <a:solidFill>
            <a:srgbClr val="186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3076" y="1508760"/>
            <a:ext cx="52257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Topic 2: Renewable Investment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3076" y="1920240"/>
            <a:ext cx="522579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14 resources | IRENA, IEA, BNEF, REN21
RE investment hit $807bn in 2024 (IRENA)
BNEF: $2.3 trillion total energy transition (2025)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703320"/>
            <a:ext cx="5500116" cy="2103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94760"/>
            <a:ext cx="52257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Topic 3: Substitution Models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206240"/>
            <a:ext cx="522579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15 resources | Papageorgiou 2017, Mukhtarov 2024
CES elasticity sigma ~ 1.8 (electricity sector)
Oil -&gt; RE elasticity: +0.16% per 1% (Mukhtarov)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85916" y="3703320"/>
            <a:ext cx="5500116" cy="2103120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3076" y="3794760"/>
            <a:ext cx="52257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Topic 4: Stress Testing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3076" y="4206240"/>
            <a:ext cx="522579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15 resources | NGFS, ECB, IMF, DNB, BIS
IEA STEPS/APS/NZE + IMF geopolitical scenarios
Morris GSA method (Usher et al. 2023, MIT)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77272" y="64465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CC2222"/>
                </a:solidFill>
              </a:rPr>
              <a:t>AI Generated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831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Brent Price History (1987-2026)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83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FF"/>
                </a:solidFill>
              </a:rPr>
              <a:t>EIA RBRTE monthly spot price | 467 observations | no gaps</a:t>
            </a:r>
          </a:p>
        </p:txBody>
      </p:sp>
      <p:pic>
        <p:nvPicPr>
          <p:cNvPr id="6" name="Picture 5" descr="01_brent_month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8046720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732520" y="13258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>Min: $9.10 (Dec 1998)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>Max: $133.88 (Jul 2008)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>Mean: $57.46/bbl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>Current: ~$102 (Mar 2026)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>Key shocks: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>1998: Asian crisis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>2008: GFC peak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>2014-16: shale glut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>2020: COVID crash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>2022: Ukraine spike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77272" y="64465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CC2222"/>
                </a:solidFill>
              </a:rPr>
              <a:t>AI Generated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831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Renewable &amp; Clean Energy Investment (2015-2024)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83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FF"/>
                </a:solidFill>
              </a:rPr>
              <a:t>IEA World Energy Investment 2024/2025 | IRENA/CPI 2025</a:t>
            </a:r>
          </a:p>
        </p:txBody>
      </p:sp>
      <p:pic>
        <p:nvPicPr>
          <p:cNvPr id="6" name="Picture 5" descr="03_investment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7772400" cy="4663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58199" y="150876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>Clean energy:
$590bn -&gt; $2,100bn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>Renewable power:
$286bn -&gt; $807bn
(CAGR ~11%/yr)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>Clean/fossil ratio
crossed 1.0 in 2021
reached 2.0x in 2024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>2024 deceleration:
7.3% growth vs 32% in 2023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77272" y="64465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CC2222"/>
                </a:solidFill>
              </a:rPr>
              <a:t>AI Generated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831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Oil Price vs Renewable Investment (2015-2024)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83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FF"/>
                </a:solidFill>
              </a:rPr>
              <a:t>Dual-axis: Brent annual average vs renewable power investment</a:t>
            </a:r>
          </a:p>
        </p:txBody>
      </p:sp>
      <p:pic>
        <p:nvPicPr>
          <p:cNvPr id="6" name="Picture 5" descr="07_combined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7772400" cy="4389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58199" y="150876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>Positive co-movement
for most of 2015-2024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>Key exception: 2020
Brent crashed to $42
but RE investment held
(policy floor effect)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>Correlation r = +0.663
(n=10, annual)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>Note: time-trend
confounding likely;
10 obs insufficient
for causal inference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77272" y="64465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CC2222"/>
                </a:solidFill>
              </a:rPr>
              <a:t>AI Generated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831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Brent Price vs Investment: Correlation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83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FF"/>
                </a:solidFill>
              </a:rPr>
              <a:t>Scatter plots with trend lines | Annual data 2015-2024 | n=10</a:t>
            </a:r>
          </a:p>
        </p:txBody>
      </p:sp>
      <p:pic>
        <p:nvPicPr>
          <p:cNvPr id="6" name="Picture 5" descr="04_correlation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7315200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00999" y="141732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>Pearson r values: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>  RE power: +0.663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>  Clean total: +0.619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>  Clean/fossil: +0.483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>Caveats: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>- Common time trend
  confounds correlation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>- 2020 anomaly:
  low oil, rising RE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>- Policy dominance
  post-2021 (IRA,
  REPowerEU)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>Model uses Mukhtarov
+0.16% elasticity as
empirical anchor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77272" y="64465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CC2222"/>
                </a:solidFill>
              </a:rPr>
              <a:t>AI Generated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831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Brent Price Volatility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83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FF"/>
                </a:solidFill>
              </a:rPr>
              <a:t>Daily log returns (1987-2026) | Fat tails | GARCH-appropriate</a:t>
            </a:r>
          </a:p>
        </p:txBody>
      </p:sp>
      <p:pic>
        <p:nvPicPr>
          <p:cNvPr id="6" name="Picture 5" descr="06_log_returns_volat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8046720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732520" y="141732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>Annualised vol: 40.1%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>Skewness: -1.68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>(negative tail)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>Excess kurtosis: 63.4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>(extreme fat tails)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>JB p-value: 0.000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>(strongly non-normal)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>Implication: normal
distribution invalid;
stress scenarios use
historical CVaR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>HIGH_SHOCK ($130)
~ 97th percentile
LOW_SHOCK ($25)
~ 3rd percentile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77272" y="64465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CC2222"/>
                </a:solidFill>
              </a:rPr>
              <a:t>AI Generated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831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How the Model Works: Plain Language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83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FF"/>
                </a:solidFill>
              </a:rPr>
              <a:t>CES substitution framework — intuitive explanation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00200"/>
            <a:ext cx="2194560" cy="18288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OIL PRICE
RISES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4028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When oil becomes
more expensive, clean
energy looks relatively
cheaper by comparison.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23317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B3A6B"/>
                </a:solidFill>
              </a:rPr>
              <a:t>-&gt;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1600200"/>
            <a:ext cx="2194560" cy="18288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08960" y="16916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SUBSTITUTION
EFFECT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24028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Investors and policy-
makers shift capital
away from oil toward
renewable alternatives.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57800" y="23317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B3A6B"/>
                </a:solidFill>
              </a:rPr>
              <a:t>-&gt;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77840" y="1600200"/>
            <a:ext cx="2194560" cy="1828800"/>
          </a:xfrm>
          <a:prstGeom prst="rect">
            <a:avLst/>
          </a:prstGeom>
          <a:solidFill>
            <a:srgbClr val="3BB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16916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INVESTMENT
SURGE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224028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Renewable energy
receives more funding,
accelerating capacity
deployment.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23317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B3A6B"/>
                </a:solidFill>
              </a:rPr>
              <a:t>-&gt;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1600200"/>
            <a:ext cx="2194560" cy="18288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6916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ENERGY
TRANSITION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24028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Over time, renewables
become a larger share
of total energy supply
and investment.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794760"/>
            <a:ext cx="111831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3A6B"/>
                </a:solidFill>
              </a:rPr>
              <a:t>Key numbers:  1% rise in oil price  -&gt;  +0.16% rise in renewable consumption  (Mukhtarov et al., 2024, China)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343400"/>
            <a:ext cx="1118311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>Substitution elasticity (sigma = 1.8): measures how readily investors switch from oil to renewables when prices change. A value above 1 means clean and dirty energy are 'gross substitutes' -- higher oil prices push investment strongly toward renewables. (Source: Papageorgiou, Saam &amp; Schulte, 2017, 26-country electricity-sector study)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>The model uses observed renewable investment share (~30% of new capacity in 2024) and the $807 bn baseline to project trajectories across 5 oil price scenarios to 2030.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77272" y="64465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CC2222"/>
                </a:solidFill>
              </a:rPr>
              <a:t>AI Generated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831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CES Model: Technical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83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FF"/>
                </a:solidFill>
              </a:rPr>
              <a:t>Constant Elasticity of Substitution | Python library ces_model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11183112" cy="12801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108173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3A6B"/>
                </a:solidFill>
              </a:rPr>
              <a:t>CES Share Function:   s_r = alpha * p_r^(rho-1)  /  [alpha * p_r^(rho-1)  +  (1-alpha) * p_f^(rho-1)]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65960"/>
            <a:ext cx="10817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33"/>
                </a:solidFill>
              </a:rPr>
              <a:t>where  rho = 1 - 1/sigma  |  p_r = renewable price index  |  p_f = fossil (oil) price  |  alpha = renewable technology weight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788920"/>
            <a:ext cx="1371600" cy="4572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2843784"/>
            <a:ext cx="1261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Parameter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74520" y="2788920"/>
            <a:ext cx="1554480" cy="4572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47672" y="2843784"/>
            <a:ext cx="1444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Value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29000" y="2788920"/>
            <a:ext cx="3840480" cy="4572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02152" y="2843784"/>
            <a:ext cx="3730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Source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69480" y="2788920"/>
            <a:ext cx="3657600" cy="4572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42632" y="2843784"/>
            <a:ext cx="3547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Role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264408"/>
            <a:ext cx="1371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72" y="3319272"/>
            <a:ext cx="1261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33"/>
                </a:solidFill>
              </a:rPr>
              <a:t>sigma (EOS)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74520" y="3264408"/>
            <a:ext cx="15544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47672" y="3319272"/>
            <a:ext cx="1444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33"/>
                </a:solidFill>
              </a:rPr>
              <a:t>1.8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29000" y="3264408"/>
            <a:ext cx="38404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02152" y="3319272"/>
            <a:ext cx="3730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33"/>
                </a:solidFill>
              </a:rPr>
              <a:t>Papageorgiou et al. 2017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69480" y="3264408"/>
            <a:ext cx="3657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42632" y="3319272"/>
            <a:ext cx="3547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33"/>
                </a:solidFill>
              </a:rPr>
              <a:t>Clean/dirty substitutability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739896"/>
            <a:ext cx="137160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6072" y="3794760"/>
            <a:ext cx="1261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33"/>
                </a:solidFill>
              </a:rPr>
              <a:t>alpha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74520" y="3739896"/>
            <a:ext cx="155448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947672" y="3794760"/>
            <a:ext cx="1444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33"/>
                </a:solidFill>
              </a:rPr>
              <a:t>calibrated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29000" y="3739896"/>
            <a:ext cx="384048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02152" y="3794760"/>
            <a:ext cx="3730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33"/>
                </a:solidFill>
              </a:rPr>
              <a:t>IEA/IRENA 2024 (30% share at $80)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69480" y="3739896"/>
            <a:ext cx="365760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42632" y="3794760"/>
            <a:ext cx="3547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33"/>
                </a:solidFill>
              </a:rPr>
              <a:t>Renewable technology weight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4215384"/>
            <a:ext cx="1371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6072" y="4270248"/>
            <a:ext cx="1261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33"/>
                </a:solidFill>
              </a:rPr>
              <a:t>oil elasticity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874520" y="4215384"/>
            <a:ext cx="15544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947672" y="4270248"/>
            <a:ext cx="1444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33"/>
                </a:solidFill>
              </a:rPr>
              <a:t>+0.16%/1%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429000" y="4215384"/>
            <a:ext cx="38404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02152" y="4270248"/>
            <a:ext cx="3730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33"/>
                </a:solidFill>
              </a:rPr>
              <a:t>Mukhtarov et al. 2024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269480" y="4215384"/>
            <a:ext cx="3657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42632" y="4270248"/>
            <a:ext cx="3547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33"/>
                </a:solidFill>
              </a:rPr>
              <a:t>Empirical validation anchor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4690872"/>
            <a:ext cx="137160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76072" y="4745736"/>
            <a:ext cx="1261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33"/>
                </a:solidFill>
              </a:rPr>
              <a:t>base invest.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874520" y="4690872"/>
            <a:ext cx="155448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947672" y="4745736"/>
            <a:ext cx="1444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33"/>
                </a:solidFill>
              </a:rPr>
              <a:t>$807 bn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429000" y="4690872"/>
            <a:ext cx="384048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502152" y="4745736"/>
            <a:ext cx="3730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33"/>
                </a:solidFill>
              </a:rPr>
              <a:t>IEA/IRENA 2025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269480" y="4690872"/>
            <a:ext cx="365760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42632" y="4745736"/>
            <a:ext cx="3547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33"/>
                </a:solidFill>
              </a:rPr>
              <a:t>2024 baseline investment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2920" y="5166360"/>
            <a:ext cx="1371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76072" y="5221224"/>
            <a:ext cx="1261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33"/>
                </a:solidFill>
              </a:rPr>
              <a:t>capex decline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874520" y="5166360"/>
            <a:ext cx="15544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947672" y="5221224"/>
            <a:ext cx="1444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33"/>
                </a:solidFill>
              </a:rPr>
              <a:t>20%/decade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429000" y="5166360"/>
            <a:ext cx="38404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502152" y="5221224"/>
            <a:ext cx="3730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33"/>
                </a:solidFill>
              </a:rPr>
              <a:t>IEA learning curve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269480" y="5166360"/>
            <a:ext cx="3657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342632" y="5221224"/>
            <a:ext cx="3547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33"/>
                </a:solidFill>
              </a:rPr>
              <a:t>Technology cost reduction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77272" y="64465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CC2222"/>
                </a:solidFill>
              </a:rPr>
              <a:t>AI Generated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831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Model Calibration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83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FF"/>
                </a:solidFill>
              </a:rPr>
              <a:t>CES share curve and sigma sensitivity | Notebook 01</a:t>
            </a:r>
          </a:p>
        </p:txBody>
      </p:sp>
      <p:pic>
        <p:nvPicPr>
          <p:cNvPr id="6" name="Picture 5" descr="01a_ces_share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5522976" cy="4389120"/>
          </a:xfrm>
          <a:prstGeom prst="rect">
            <a:avLst/>
          </a:prstGeom>
        </p:spPr>
      </p:pic>
      <p:pic>
        <p:nvPicPr>
          <p:cNvPr id="7" name="Picture 6" descr="01b_sigma_sensitiv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3056" y="1325880"/>
            <a:ext cx="5522976" cy="4389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5760720"/>
            <a:ext cx="11183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66"/>
                </a:solidFill>
              </a:rPr>
              <a:t>Left: Renewable share rises with oil price; steeper for higher sigma. Dashed line = alpha (parity). Orange dotted = long-run mean ($57.46).  |  Right: Share sensitivity to sigma at two price levels. sigma=1.8 balances theoretical and empirical evidence.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77272" y="64465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CC2222"/>
                </a:solidFill>
              </a:rPr>
              <a:t>AI Generated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831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Five Stress Scenarios: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83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FF"/>
                </a:solidFill>
              </a:rPr>
              <a:t>IEA WEO 2024 + IMF WP/23/160 (Boer, Pescatori, Stuermer 2023) + NGFS Phase V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2011680" cy="87782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9903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0136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IEA Stated Policies
2025: $75  |  2030: $65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435608"/>
            <a:ext cx="898855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33"/>
                </a:solidFill>
              </a:rPr>
              <a:t>Business as usual. Currently announced policies
with no additional climate commitments.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258568"/>
            <a:ext cx="2011680" cy="877824"/>
          </a:xfrm>
          <a:prstGeom prst="rect">
            <a:avLst/>
          </a:prstGeom>
          <a:solidFill>
            <a:srgbClr val="3BB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331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APS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734056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IEA Announced Pledges
2025: $70  |  2030: $55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2368296"/>
            <a:ext cx="898855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33"/>
                </a:solidFill>
              </a:rPr>
              <a:t>All pledged NDCs and net-zero targets implemented.
Moderate demand erosion.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191256"/>
            <a:ext cx="2011680" cy="877824"/>
          </a:xfrm>
          <a:prstGeom prst="rect">
            <a:avLst/>
          </a:prstGeom>
          <a:solidFill>
            <a:srgbClr val="0A5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26440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NZE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666744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IEA Net Zero 2050
2025: $65  |  2030: $44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3300984"/>
            <a:ext cx="898855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33"/>
                </a:solidFill>
              </a:rPr>
              <a:t>Full net-zero pathway. Aggressive demand-side
policies collapse fossil demand.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123944"/>
            <a:ext cx="2011680" cy="877824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197096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HIGH_SHOCK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59943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Geopolitical Supply Shock
2025: $90  |  2030: $130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4233672"/>
            <a:ext cx="898855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33"/>
                </a:solidFill>
              </a:rPr>
              <a:t>IMF WP/23/160 supply disruption scenario.
Middle East/OPEC+ production cut + sanctions.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056632"/>
            <a:ext cx="2011680" cy="877824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5129784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LOW_SHOCK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5321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Demand Destruction
2025: $60  |  2030: $25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97480" y="5166360"/>
            <a:ext cx="898855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33"/>
                </a:solidFill>
              </a:rPr>
              <a:t>Boer et al. 2023 full-climate-policy scenario.
Carbon pricing collapses fossil fuel demand.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77272" y="64465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CC2222"/>
                </a:solidFill>
              </a:rPr>
              <a:t>AI Generated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831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Scenario Brent Price Paths (2020-2030)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83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FF"/>
                </a:solidFill>
              </a:rPr>
              <a:t>Historical actuals (grey) + 5 scenario projections from 2025</a:t>
            </a:r>
          </a:p>
        </p:txBody>
      </p:sp>
      <p:pic>
        <p:nvPicPr>
          <p:cNvPr id="6" name="Picture 5" descr="02a_scenario_price_path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11183112" cy="4663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177272" y="64465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CC2222"/>
                </a:solidFill>
              </a:rPr>
              <a:t>AI Generated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831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Renewable Investment Trajectories: Scenario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83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FF"/>
                </a:solidFill>
              </a:rPr>
              <a:t>CES model output (USD bn) | Base: $807 bn (2024) | Projections 2025-2030</a:t>
            </a:r>
          </a:p>
        </p:txBody>
      </p:sp>
      <p:pic>
        <p:nvPicPr>
          <p:cNvPr id="6" name="Picture 5" descr="02b_investment_trajecto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7772400" cy="4663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58199" y="150876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>2030 terminal values: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>HIGH_SHOCK: largest
gain; $130 oil drives
substitution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>STEPS: gradual growth
from $807 bn base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>NZE / LOW_SHOCK:
oil price falls reduce
substitution signal;
still positive due to
policy momentum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>All scenarios show
positive investment
growth to 2030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77272" y="64465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CC2222"/>
                </a:solidFill>
              </a:rPr>
              <a:t>AI Generated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831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Investment Fan Chart: Scenario Uncertainty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83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FF"/>
                </a:solidFill>
              </a:rPr>
              <a:t>Shaded band shows min-max range across all 5 scenarios | STEPS highlighted as baseline</a:t>
            </a:r>
          </a:p>
        </p:txBody>
      </p:sp>
      <p:pic>
        <p:nvPicPr>
          <p:cNvPr id="6" name="Picture 5" descr="02d_investment_fan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11183112" cy="4663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177272" y="64465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CC2222"/>
                </a:solidFill>
              </a:rPr>
              <a:t>AI Generated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831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Policy Multiplier Effect (STEPS Baseline)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83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FF"/>
                </a:solidFill>
              </a:rPr>
              <a:t>Effect of IRA / REPowerEU-style policy uplift on investment trajectory</a:t>
            </a:r>
          </a:p>
        </p:txBody>
      </p:sp>
      <p:pic>
        <p:nvPicPr>
          <p:cNvPr id="6" name="Picture 5" descr="02e_policy_multipli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8046720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732520" y="1508760"/>
            <a:ext cx="3291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>Multiplier x1.0:
no policy boost
(pure CES signal)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>Multiplier x1.2:
+20% above CES
(moderate policy)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>Multiplier x1.5:
+50% (strong IRA-
type support)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>Multiplier x2.0:
+100% (extreme
policy stimulus)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>Policy dominates
oil price effect
at high multipliers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77272" y="64465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CC2222"/>
                </a:solidFill>
              </a:rPr>
              <a:t>AI Generated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831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Global Sensitivity Analysis: Morris 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83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FF"/>
                </a:solidFill>
              </a:rPr>
              <a:t>Which parameters most influence the 2030 renewable investment forecast?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18311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222233"/>
                </a:solidFill>
              </a:rPr>
              <a:t>Method: Morris elementary effects screening (Usher et al. 2023, MIT licence).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22233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22233"/>
                </a:solidFill>
              </a:rPr>
              <a:t>8 parameters screened across their full uncertainty ranges: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22233"/>
                </a:solidFill>
              </a:rPr>
              <a:t>  sigma [1.0, 3.0] | alpha [0.15, 0.60] | oil elasticity [0.05, 0.35]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22233"/>
                </a:solidFill>
              </a:rPr>
              <a:t>  oil price 2025 [$30, $110] | oil price 2030 [$25, $130] | discount rate [0.05, 0.15]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22233"/>
                </a:solidFill>
              </a:rPr>
              <a:t>  renewable capex decline [0%, 50%] | baseline investment [$600 bn, $1,200 bn]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22233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22233"/>
                </a:solidFill>
              </a:rPr>
              <a:t>Run: 10 trajectories x (6 groups + 1) = 70 model evaluations. Seed = 42.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22233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22233"/>
                </a:solidFill>
              </a:rPr>
              <a:t>Output: terminal renewable investment in 2030 (USD bn).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22233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22233"/>
                </a:solidFill>
              </a:rPr>
              <a:t>Morris mu* (mean absolute elementary effect): parameter importance ranking.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22233"/>
                </a:solidFill>
              </a:rPr>
              <a:t>Morris sigma: nonlinearity / interaction effects indicator.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77272" y="64465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CC2222"/>
                </a:solidFill>
              </a:rPr>
              <a:t>AI Generated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831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Morris GSA: Parameter Importance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83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FF"/>
                </a:solidFill>
              </a:rPr>
              <a:t>mu* = mean absolute effect | sigma = nonlinearity | Notebook 03</a:t>
            </a:r>
          </a:p>
        </p:txBody>
      </p:sp>
      <p:pic>
        <p:nvPicPr>
          <p:cNvPr id="6" name="Picture 5" descr="03a_morris_mu_st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5522976" cy="4480560"/>
          </a:xfrm>
          <a:prstGeom prst="rect">
            <a:avLst/>
          </a:prstGeom>
        </p:spPr>
      </p:pic>
      <p:pic>
        <p:nvPicPr>
          <p:cNvPr id="7" name="Picture 6" descr="03b_morris_mu_sig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3056" y="1325880"/>
            <a:ext cx="5522976" cy="4480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5824728"/>
            <a:ext cx="111831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66"/>
                </a:solidFill>
              </a:rPr>
              <a:t>Left: Ranked parameter influence. Oil price (2030), sigma, and baseline investment are expected top drivers.  Right: Parameters above the sigma = mu* diagonal show strong nonlinear or interaction effects -- key for stress test design.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77272" y="64465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CC2222"/>
                </a:solidFill>
              </a:rPr>
              <a:t>AI Generated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831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Model Output Distribution (Morris Sample)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83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FF"/>
                </a:solidFill>
              </a:rPr>
              <a:t>Distribution of 2030 renewable investment across all 70 parameter combinations</a:t>
            </a:r>
          </a:p>
        </p:txBody>
      </p:sp>
      <p:pic>
        <p:nvPicPr>
          <p:cNvPr id="6" name="Picture 5" descr="03c_outpu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11183112" cy="4663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177272" y="64465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CC2222"/>
                </a:solidFill>
              </a:rPr>
              <a:t>AI Generated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831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Conclusions &amp; Implications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83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FF"/>
                </a:solidFill>
              </a:rPr>
              <a:t>What this means for policy and investment decisions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55001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3A6B"/>
                </a:solidFill>
              </a:rPr>
              <a:t>Key Findings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37360"/>
            <a:ext cx="5500116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>1. Higher oil prices drive renewable investment (elasticity +0.16%, sigma=1.8).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>2. Policy (IRA, REPowerEU) now dominates the oil price signal post-2021.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>3. Scenario spread is large: $820 bn - $2,350+ bn by 2030 (3x range).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>4. Oil price uncertainty (not level) is the primary model risk — Morris GSA confirms.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>5. LOW_SHOCK: even at $25/bbl, renewable investment stays positive due to cost    declines and policy inertia.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>6. HIGH_SHOCK: $130/bbl oil accelerates transition most aggressively — paradoxically    the fastest renewable growth path.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85916" y="1325880"/>
            <a:ext cx="55001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3A6B"/>
                </a:solidFill>
              </a:rPr>
              <a:t>Implications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737360"/>
            <a:ext cx="550011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>Policy: Maintain price support mechanisms (carbon pricing, subsidies) to protect
  renewable investment in LOW_SHOCK scenarios.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>Investment: Oil supply shocks are net-positive for renewable returns in the short run;
  embed tail-risk hedges for LOW_SHOCK demand-collapse scenarios.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>Model limits: 10-year investment regression (n=10) limits causal inference; further
  structural modelling (VAR, NARDL) advised.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>Next steps: Extend model with Kilian shock decomposition (demand vs. supply shocks);
  add regional disaggregation; connect to financial risk metrics (VaR, CVaR).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77272" y="64465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CC2222"/>
                </a:solidFill>
              </a:rPr>
              <a:t>AI Generated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831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Appendix A: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83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FF"/>
                </a:solidFill>
              </a:rPr>
              <a:t>Data, model, sensitivity | reproducible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1118311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>DATA: EIA RBRTE series (1987-2026, monthly &amp; daily). IEA WEI 2024/2025 investment series (2015-2024 annual). NGFS Phase V + IEA WEO 2024 scenario oil price paths.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>CES MODEL: Two-input CES share function. Parameters: sigma=1.8 (Papageorgiou 2017), alpha calibrated to 30% renewable share at $80/bbl (IEA 2024). Investment scaled from $807 bn base with 20%/decade capex decline (IEA learning curve).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>SCENARIOS: 5 paths from 2025-2030. Sources: IEA WEO 2024 (STEPS/APS/NZE), IMF WP/23/160 Boer et al. 2023 (HIGH/LOW_SHOCK). All paths anchored on 2020-2024 EIA historical actuals.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>SENSITIVITY: Morris elementary effects screening (SALib library). 8 parameters, 10 trajectories, seed=42. Adapted from Usher et al. 2023 esom_gsa (MIT licence).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>VOLATILITY: Daily log return stats from EIA RBRTE. Annualised vol 40.1%, skewness -1.68, kurtosis 63.4. GARCH(1,1) module included in ces_model.volatility.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>REPRODUCIBILITY: All figures regenerable from notebooks/. Library at src/ces_model/. Run: uv run jupyter nbconvert --to notebook --execute notebooks/*.ipynb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77272" y="64465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CC2222"/>
                </a:solidFill>
              </a:rPr>
              <a:t>AI Generated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831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Appendix B: Key Sources (59 total)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83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FF"/>
                </a:solidFill>
              </a:rPr>
              <a:t>Full catalogue in agent-catalogue/index.md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1118311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222233"/>
                </a:solidFill>
              </a:rPr>
              <a:t>EIA RBRTE: Europe Brent Spot Price FOB (monthly/daily, 1987-2026). eia.gov. Public domain.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222233"/>
                </a:solidFill>
              </a:rPr>
              <a:t>IEA World Energy Investment 2024 &amp; 2025. iea.org. CC BY 4.0.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222233"/>
                </a:solidFill>
              </a:rPr>
              <a:t>IEA World Energy Outlook 2024 (STEPS/APS/NZE scenarios). iea.org. CC BY 4.0.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222233"/>
                </a:solidFill>
              </a:rPr>
              <a:t>IRENA/CPI Global Landscape of Energy Transition Finance 2025. irena.org.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222233"/>
                </a:solidFill>
              </a:rPr>
              <a:t>BNEF Energy Transition Investment Trends 2025. BloombergNEF. Abridged PDF public.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222233"/>
                </a:solidFill>
              </a:rPr>
              <a:t>Papageorgiou, Saam &amp; Schulte (2017). Substitution between Clean and Dirty Energy Inputs: A Macroeconomic Perspective. REStat. [sigma = 1.8]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222233"/>
                </a:solidFill>
              </a:rPr>
              <a:t>Mukhtarov et al. (2024). Oil Prices and Renewable Energy Transition: Evidence from China. [elasticity +0.16%]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222233"/>
                </a:solidFill>
              </a:rPr>
              <a:t>Boer, Pescatori &amp; Stuermer (2023). Energy Transitions and the Oil Market. IMF Working Paper WP/23/160. [LOW_SHOCK scenario]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222233"/>
                </a:solidFill>
              </a:rPr>
              <a:t>Usher, Niet, Boosheri et al. (2023). Global Sensitivity Analysis of ESOMs. MIT licence. [Morris GSA methodology]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222233"/>
                </a:solidFill>
              </a:rPr>
              <a:t>NGFS Climate Scenarios Phase V (November 2024). ngfs.net.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222233"/>
                </a:solidFill>
              </a:rPr>
              <a:t>Esmaeili et al. (2024). Oil Surges and Renewable Energy Shifts. SVAR methodology.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222233"/>
                </a:solidFill>
              </a:rPr>
              <a:t>Kilian (2009). Not All Oil Price Shocks Are Alike. AER. [shock decomposition]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222233"/>
                </a:solidFill>
              </a:rPr>
              <a:t>Hamilton (2008). Understanding Crude Oil Prices. NBER. [fundamentals methodology]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77272" y="64465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CC2222"/>
                </a:solidFill>
              </a:rPr>
              <a:t>AI Generated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831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Appendix C: QA Test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83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FF"/>
                </a:solidFill>
              </a:rPr>
              <a:t>ces_model library | pytest integration suite | Branch: example-study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5029200" cy="1097280"/>
          </a:xfrm>
          <a:prstGeom prst="rect">
            <a:avLst/>
          </a:prstGeom>
          <a:solidFill>
            <a:srgbClr val="22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63040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164 / 164 tests PASSED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606040"/>
            <a:ext cx="548640" cy="548640"/>
          </a:xfrm>
          <a:prstGeom prst="rect">
            <a:avLst/>
          </a:prstGeom>
          <a:solidFill>
            <a:srgbClr val="22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67919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651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3A6B"/>
                </a:solidFill>
              </a:rPr>
              <a:t>test_ces_investment_integration.py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95351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33"/>
                </a:solidFill>
              </a:rPr>
              <a:t>CES core + investment module integration tests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337560"/>
            <a:ext cx="548640" cy="548640"/>
          </a:xfrm>
          <a:prstGeom prst="rect">
            <a:avLst/>
          </a:prstGeom>
          <a:solidFill>
            <a:srgbClr val="22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41071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PASS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383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3A6B"/>
                </a:solidFill>
              </a:rPr>
              <a:t>test_e2e_pipeline.py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68503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33"/>
                </a:solidFill>
              </a:rPr>
              <a:t>End-to-end pipeline: calibrate -&gt; scenario -&gt; sensitivity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069080"/>
            <a:ext cx="548640" cy="548640"/>
          </a:xfrm>
          <a:prstGeom prst="rect">
            <a:avLst/>
          </a:prstGeom>
          <a:solidFill>
            <a:srgbClr val="22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14223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114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3A6B"/>
                </a:solidFill>
              </a:rPr>
              <a:t>test_scenario_investment_integration.py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4165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33"/>
                </a:solidFill>
              </a:rPr>
              <a:t>All 5 scenarios: price paths, investment trajectories, fan chart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800600"/>
            <a:ext cx="548640" cy="548640"/>
          </a:xfrm>
          <a:prstGeom prst="rect">
            <a:avLst/>
          </a:prstGeom>
          <a:solidFill>
            <a:srgbClr val="22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87375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PASS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846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3A6B"/>
                </a:solidFill>
              </a:rPr>
              <a:t>test_sensitivity_pipeline.py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51480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33"/>
                </a:solidFill>
              </a:rPr>
              <a:t>Morris GSA pipeline: problem build, sample, run, analyse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77272" y="64465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CC2222"/>
                </a:solidFill>
              </a:rPr>
              <a:t>AI Generated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